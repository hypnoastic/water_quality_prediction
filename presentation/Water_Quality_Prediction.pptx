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087F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England</c:v>
                  </c:pt>
                  <c:pt idx="1">
                    <c:v>USA</c:v>
                  </c:pt>
                  <c:pt idx="2">
                    <c:v>Ireland</c:v>
                  </c:pt>
                  <c:pt idx="3">
                    <c:v>China</c:v>
                  </c:pt>
                  <c:pt idx="4">
                    <c:v>Canada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2129198</c:v>
                </c:pt>
                <c:pt idx="1">
                  <c:v>413814</c:v>
                </c:pt>
                <c:pt idx="2">
                  <c:v>235019</c:v>
                </c:pt>
                <c:pt idx="3">
                  <c:v>45997</c:v>
                </c:pt>
                <c:pt idx="4">
                  <c:v>3949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DCCF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0000"/>
          <c:min val="0"/>
        </c:scaling>
        <c:delete val="0"/>
        <c:axPos val="b"/>
        <c:majorGridlines>
          <c:spPr>
            <a:ln w="12700" cap="flat">
              <a:solidFill>
                <a:srgbClr val="D8DCCF"/>
              </a:solidFill>
              <a:prstDash val="solid"/>
              <a:round/>
            </a:ln>
          </c:spPr>
        </c:majorGridlines>
        <c:numFmt formatCode="0.0,,&quot;m&quot;" sourceLinked="0"/>
        <c:majorTickMark val="out"/>
        <c:minorTickMark val="none"/>
        <c:tickLblPos val="low"/>
        <c:spPr>
          <a:ln w="12700" cap="flat">
            <a:solidFill>
              <a:srgbClr val="D8DCC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087F8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XGBoost</c:v>
                  </c:pt>
                  <c:pt idx="1">
                    <c:v>MLP</c:v>
                  </c:pt>
                  <c:pt idx="2">
                    <c:v>Blend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0.4262032717689346</c:v>
                </c:pt>
                <c:pt idx="1">
                  <c:v>0.916081601827637</c:v>
                </c:pt>
                <c:pt idx="2">
                  <c:v>0.4222479778986707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5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DCCF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b"/>
        <c:majorGridlines>
          <c:spPr>
            <a:ln w="12700" cap="flat">
              <a:solidFill>
                <a:srgbClr val="D8DC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8DCC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increase</c:v>
                </c:pt>
              </c:strCache>
            </c:strRef>
          </c:tx>
          <c:spPr>
            <a:solidFill>
              <a:srgbClr val="087F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Orthophosphate</c:v>
                  </c:pt>
                  <c:pt idx="1">
                    <c:v>Ammonia</c:v>
                  </c:pt>
                  <c:pt idx="2">
                    <c:v>BOD</c:v>
                  </c:pt>
                  <c:pt idx="3">
                    <c:v>pH</c:v>
                  </c:pt>
                  <c:pt idx="4">
                    <c:v>Nitrogen</c:v>
                  </c:pt>
                  <c:pt idx="5">
                    <c:v>Dissolved oxygen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8.492496828825269</c:v>
                </c:pt>
                <c:pt idx="1">
                  <c:v>2.6533913158080153</c:v>
                </c:pt>
                <c:pt idx="2">
                  <c:v>0.9898966153958608</c:v>
                </c:pt>
                <c:pt idx="3">
                  <c:v>0.2253441085577993</c:v>
                </c:pt>
                <c:pt idx="4">
                  <c:v>0.1295331875427297</c:v>
                </c:pt>
                <c:pt idx="5">
                  <c:v>0.0326322777736678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5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DCCF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D8DC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8DCC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solidFill>
              <a:srgbClr val="D57C4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Poor</c:v>
                  </c:pt>
                  <c:pt idx="1">
                    <c:v>Marginal</c:v>
                  </c:pt>
                  <c:pt idx="2">
                    <c:v>Fair</c:v>
                  </c:pt>
                  <c:pt idx="3">
                    <c:v>Good</c:v>
                  </c:pt>
                  <c:pt idx="4">
                    <c:v>Excellent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51.85185185185185</c:v>
                </c:pt>
                <c:pt idx="1">
                  <c:v>45.18859703722146</c:v>
                </c:pt>
                <c:pt idx="2">
                  <c:v>66.10095258951057</c:v>
                </c:pt>
                <c:pt idx="3">
                  <c:v>89.62263003636275</c:v>
                </c:pt>
                <c:pt idx="4">
                  <c:v>97.69133797700952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DCCF"/>
            </a:solidFill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8DC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8DCC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18 compares a strong tabular baseline with an MLP on one continuous target. State the scope as source-index emulation from the start. Source: https://doi.org/10.6084/m9.figshare.27800394.v2. Decorative photo: David Kovalenko, https://unsplash.com/photos/birds-eye-view-of-river-and-green-trees-qYMa2-P-U0M, Unsplash license. The photograph does not depict a documented monitoring station. Team: Team Member 1 (Enrollment 1), Team Member 2 (Enrollment 2), Team Member 3 (Enrollment 3), Team Member 4 (Enrollment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assignment permits regression of a documented index or classification under a defined class scheme. We choose only CCME_Values. https://doi.org/10.6084/m9.figshare.27800394.v2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https://doi.org/10.6084/m9.figshare.27800394.v2. Data audit: reports/data_audit.json. England supplies 75.3% of rows. Original data are already harmonized and imputed.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notebook: notebooks/reference/Data_Processing_Harmonization.ipynb. Our formula audit is src/water_quality/data.py. Official definition: https://ccme.ca/en/res/wqimanualen.pdf. Maximum reconstruction error = 2.84e-14. The denominator 12 is inferred by exact agreement with every delivered label, while the source notebook uses len(df.columns).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reports/data_audit.json and reports/split_manifest.json. All transforms fit on the shared training sample. Historical sites can recur. The temporal holdout does not remove the structural dependence of the target on its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Methods: https://doi.org/10.1145/2939672.2939785; https://www.deeplearningbook.org/contents/mlp.html; https://arxiv.org/abs/2207.08815. Exact configuration: configs/default.json and src/water_quality/pipeline.py. Two candidates per learned family, one seed. The MLP reaches the 60-epoch budget, so full convergence is not established. Mean and Ridge are additional fixed baselines.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sources: reports/metrics.csv and reports/validation_candidates.csv. All test scores use 202,886 held-out rows. Model family and blend weight use 2019 validation RMSE. The blend has a small RMSE improvement and worse MAE than XGBoost. No significance claim follows from one seed.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source: reports/permutation_importance.csv. Each measurement and its quality flag move together, with three shuffle repeats on 2,000 validation rows. Values below are for XGBoost. Native TreeSHAP provides a second explanation in reports/shap_importance.csv. These explain a calculated index and cannot establish environmental causality.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source: reports/subgroup_metrics.csv, selected Blend, source_index_band groups. Intervals use 2020 held-out absolute residuals with the finite-sample order statistic. https://arxiv.org/abs/2107.07511. Exchangeability is not established under temporal shift. Poor coverage=51.9%, Marginal=45.2%.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Code: app.py, src/water_quality/cli.py and src/water_quality/predict.py. Both demo and CLI load the saved artifacts, with train-fitted preprocessing. Input flags remain visible. Inputs must use the original units and headers. Artifacts are pickle based for preprocessing and should come only from trusted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reports/report.md, docs/DATA.md and submission/Water_Quality_Project_Report.pdf. The evidence supports source-index emulation under the stated chronological protocol. It does not show independent water quality outcomes, a new site holdout, future-target forecasting or uniform uncertainty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Dataset: https://doi.org/10.6084/m9.figshare.27800394.v2. Official standard: https://ccme.ca/en/res/wqimanualen.pdf. XGBoost: https://doi.org/10.1145/2939672.2939785. Feedforward networks: https://www.deeplearningbook.org/contents/mlp.html. Tabular benchmark: https://arxiv.org/abs/2207.08815. Uncertainty: https://arxiv.org/abs/2107.07511. Repository-organization reference: https://github.com/abhi-7-7/Flight_Delay_Prediction. Design inspiration: https://canva.link/jhwgwqkgeon4gbs. Team metadata intentionally contain dummy values at user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yashkumar/aiml_project/presentation/assets/ri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0920" y="0"/>
            <a:ext cx="48310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583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18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325880"/>
            <a:ext cx="6446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 Quality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76656" y="33375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and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neural networks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76656" y="449884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chronological study of a calculated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surface-water index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76656" y="58064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TEAM-ID (replace)  /  SECTION (replace)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6656" y="629107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 are editable dummy values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and research question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 small neural network improve on a strong tree model when estimating a documented water-quality index?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project delivers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continuous target on a 0–100 scale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shared, chronological evaluation protocol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and feature explanations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explicit audit of how the target was created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321040" y="3291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D57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inputs must be meaningful for the intended use.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 and eight measurements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2,827,977 rows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76656" y="2103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1940–2023  ·  Five countries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2761488"/>
          <a:ext cx="59436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6995160" y="1572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inputs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995160" y="2212848"/>
            <a:ext cx="44805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Ammonia and BOD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Dissolved oxygen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Orthophosphate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and temperature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Nitrogen and nitrate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995160" y="519379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turbidity, conductivity or dissolved-solids columns are supplied.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derived-target audit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100" b="1" dirty="0">
                <a:solidFill>
                  <a:srgbClr val="D57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released labels</a:t>
            </a:r>
            <a:endParaRPr lang="en-US" sz="4100" dirty="0"/>
          </a:p>
        </p:txBody>
      </p:sp>
      <p:sp>
        <p:nvSpPr>
          <p:cNvPr id="7" name="Text 4"/>
          <p:cNvSpPr/>
          <p:nvPr/>
        </p:nvSpPr>
        <p:spPr>
          <a:xfrm>
            <a:off x="676656" y="230428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 within 0.0000001 from the same eight inputs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676656" y="33375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Source-defined row-level calculation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76656" y="3904488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Upper-only objectives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F2 for an individual row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Denominator = 12 for eight variables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818120" y="3447288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evaluates an index emulator.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7818120" y="47731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CCME WQI requires a defined assessment period and suitable objectives.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and temporal evaluation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965960"/>
                <a:gridCol w="2468880"/>
                <a:gridCol w="4754880"/>
              </a:tblGrid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Partition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Available rows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1940–2018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2,478,761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300,000 shared rows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87,177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Tuning and model selection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Calibration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49,182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Residual interval radius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2021–2023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202,886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frozen comparison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76656" y="46177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9,971 exact duplicates. Preserve pollution extremes.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676656" y="5349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invalid readings. Fit median imputation on training only.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asinh and standard scaling for the MLP and Ridge.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design and bounded tuning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14884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Thresholds and tabular interactions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3154680"/>
            <a:ext cx="5074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Depths 4 and 6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0.05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1,000 boosting rounds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early stopping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62940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MLP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629400" y="21488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Learned nonlinear combinations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629400" y="315468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layers: 64/32 or 128/64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and dropout 0.1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AdamW with weight decay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60 training epochs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85800" y="58064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use eight measurements plus eight missing/invalid flags.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leads the individual models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49047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RMSE in index points</a:t>
            </a:r>
            <a:endParaRPr lang="en-US" sz="2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011680"/>
          <a:ext cx="5943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700784"/>
          <a:ext cx="4617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60120"/>
                <a:gridCol w="960120"/>
                <a:gridCol w="114300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baseline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11.791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13.458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-0.4141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4.344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5.568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0.7580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0.110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0.426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0.9986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0.447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0.916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0.9934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Blend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0.127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0.422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183C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0.9986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6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6903720" y="5257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blend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XGBoost + 10% MLP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Orthophosphate drives model reliance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validation MAE after shuffling</a:t>
            </a:r>
            <a:endParaRPr lang="en-US" sz="2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" y="2148840"/>
          <a:ext cx="105613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685800" y="5852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57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inputs directly enter the source formula. Attribution does not establish causation.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Interval coverage varies by index band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44475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89.3% overall coverage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85800" y="2240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 coverage: 90%. The interval has one global residual radius.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834640"/>
          <a:ext cx="73152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8458200" y="31546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500" b="1" dirty="0">
                <a:solidFill>
                  <a:srgbClr val="D57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45.2%</a:t>
            </a:r>
            <a:endParaRPr lang="en-US" sz="4500" dirty="0"/>
          </a:p>
        </p:txBody>
      </p:sp>
      <p:sp>
        <p:nvSpPr>
          <p:cNvPr id="10" name="Text 6"/>
          <p:cNvSpPr/>
          <p:nvPr/>
        </p:nvSpPr>
        <p:spPr>
          <a:xfrm>
            <a:off x="8458200" y="4114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for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 rows</a:t>
            </a:r>
            <a:endParaRPr lang="en-US" sz="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reproducible project and live demo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554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trained models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26771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87F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301752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one sample or upload a CSV. Compare XGBoost, MLP and the blend.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85800" y="4297680"/>
            <a:ext cx="1046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models, executed notebooks and full test predictions accompany the reports.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685800" y="5623560"/>
            <a:ext cx="10469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57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estimates a research index. It makes no water-safety decision.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results establish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verified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240280"/>
            <a:ext cx="5074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documented target audit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fair tree-versus-MLP comparison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explanations and coverage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reproducible inference workflow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58368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limits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0" y="224028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depends on the same inputs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imputation and unit questions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Unequal country representation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seed and bounded tuning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685800" y="5577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stronger study needs independent outcomes or a defined reduced sensor panel.</a:t>
            </a:r>
            <a:endParaRPr lang="en-US" sz="2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and references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 Prediction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07040" y="65105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50876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is the stronger individual model.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83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blend gives a small RMSE improvement.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85800" y="2880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8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every formula input is available, the transparent source calculation is the best way to reproduce this exact index.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685800" y="42519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Karim et al. (2025), Surface Water Quality Dataset, Figshare v2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CCME (2017), Water Quality Index User Manual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 &amp; Guestrin (2016), XGBoost, KDD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Goodfellow et al. (2016), Deep Learning, chapter 6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597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Angelopoulos &amp; Bates (2021), Conformal Prediction, arXiv:2107.07511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85800" y="60899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3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github.com/hypnoastic/Water_Quality_Prediction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INSTITUTION (replace)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Quality Prediction via Gradient Boosting and Deep Neural Networks</dc:title>
  <dc:subject>A chronological comparison of XGBoost and a regularized MLP</dc:subject>
  <dc:creator>Project 18 Team</dc:creator>
  <cp:lastModifiedBy>Project 18 Team</cp:lastModifiedBy>
  <cp:revision>1</cp:revision>
  <dcterms:created xsi:type="dcterms:W3CDTF">2026-10-26T23:38:29Z</dcterms:created>
  <dcterms:modified xsi:type="dcterms:W3CDTF">2026-10-26T23:38:29Z</dcterms:modified>
</cp:coreProperties>
</file>